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D78AE50-CFF7-4E3D-A982-ABDADBA304A5}">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326FF2-0220-4086-9910-063351D0DC92}" type="datetimeFigureOut">
              <a:rPr lang="en-IN" smtClean="0"/>
              <a:t>08-11-2024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1D1424-E0AB-4603-8E45-0E16CB36E504}" type="slidenum">
              <a:rPr lang="en-IN" smtClean="0"/>
              <a:t>‹#›</a:t>
            </a:fld>
            <a:endParaRPr lang="en-IN"/>
          </a:p>
        </p:txBody>
      </p:sp>
    </p:spTree>
    <p:extLst>
      <p:ext uri="{BB962C8B-B14F-4D97-AF65-F5344CB8AC3E}">
        <p14:creationId xmlns:p14="http://schemas.microsoft.com/office/powerpoint/2010/main" val="3591738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21D1424-E0AB-4603-8E45-0E16CB36E504}" type="slidenum">
              <a:rPr lang="en-IN" smtClean="0"/>
              <a:t>12</a:t>
            </a:fld>
            <a:endParaRPr lang="en-IN"/>
          </a:p>
        </p:txBody>
      </p:sp>
    </p:spTree>
    <p:extLst>
      <p:ext uri="{BB962C8B-B14F-4D97-AF65-F5344CB8AC3E}">
        <p14:creationId xmlns:p14="http://schemas.microsoft.com/office/powerpoint/2010/main" val="24076252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D3AD05B-EBB7-42D8-BDC6-E2DFBAD5B18D}" type="datetime1">
              <a:rPr lang="en-IN" smtClean="0"/>
              <a:t>08-11-2024</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4181691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B3C03-3FB0-4654-AFC4-874A88EF65B1}" type="datetime1">
              <a:rPr lang="en-IN" smtClean="0"/>
              <a:t>08-11-2024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1524429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A112EFAB-487F-4BB0-8BCB-B782191FD344}" type="datetime1">
              <a:rPr lang="en-IN" smtClean="0"/>
              <a:t>08-11-2024</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175762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A17330-4D38-4263-A6B3-83A207DDD322}" type="datetime1">
              <a:rPr lang="en-IN" smtClean="0"/>
              <a:t>08-11-2024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1532966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C61FF6-6D3E-4C5C-B67A-B895DEAA59AD}" type="datetime1">
              <a:rPr lang="en-IN" smtClean="0"/>
              <a:t>08-11-2024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1635772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5AC3EC-825F-4E97-882E-1F2A61FBD467}" type="datetime1">
              <a:rPr lang="en-IN" smtClean="0"/>
              <a:t>08-11-2024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1761062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E547B9-C814-4DB7-8878-75C0C180861D}" type="datetime1">
              <a:rPr lang="en-IN" smtClean="0"/>
              <a:t>08-11-2024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4143589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934321-41B5-4FC2-A453-84F379B9D150}" type="datetime1">
              <a:rPr lang="en-IN" smtClean="0"/>
              <a:t>08-11-2024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2858751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90F468-610F-40CA-BDD6-24D50AA3415E}" type="datetime1">
              <a:rPr lang="en-IN" smtClean="0"/>
              <a:t>08-11-2024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3135365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C7697C-5B87-416D-BECD-1A8E1ACDD3D4}" type="datetime1">
              <a:rPr lang="en-IN" smtClean="0"/>
              <a:t>08-11-2024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272093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3ECCB2B-A411-4585-83BD-17DBD80BEF27}" type="datetime1">
              <a:rPr lang="en-IN" smtClean="0"/>
              <a:t>08-11-2024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1250444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1FBFCA0-E6BC-49B6-97BF-DBB984C65265}" type="datetime1">
              <a:rPr lang="en-IN" smtClean="0"/>
              <a:t>08-11-2024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DAF6ABE-36BE-434E-9DBA-2121A22FA7B0}"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6457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71E9968-E5B3-4980-ACE4-85ECB6D97E35}" type="datetime1">
              <a:rPr lang="en-IN" smtClean="0"/>
              <a:t>08-11-2024</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3000667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446B983-10C3-4233-B07D-D325320127F8}" type="datetime1">
              <a:rPr lang="en-IN" smtClean="0"/>
              <a:t>08-11-2024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41043216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2CEA044-9378-4D48-8795-B1B551C820B0}" type="datetime1">
              <a:rPr lang="en-IN" smtClean="0"/>
              <a:t>08-11-2024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4032645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BF0DD7-B723-445B-8DF4-33CA475E99E6}" type="datetime1">
              <a:rPr lang="en-IN" smtClean="0"/>
              <a:t>08-11-2024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1575208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F8AB0C81-7838-40E9-B5DB-7AA95FDFB254}" type="datetime1">
              <a:rPr lang="en-IN" smtClean="0"/>
              <a:t>08-11-2024</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BDAF6ABE-36BE-434E-9DBA-2121A22FA7B0}" type="slidenum">
              <a:rPr lang="en-IN" smtClean="0"/>
              <a:t>‹#›</a:t>
            </a:fld>
            <a:endParaRPr lang="en-IN"/>
          </a:p>
        </p:txBody>
      </p:sp>
    </p:spTree>
    <p:extLst>
      <p:ext uri="{BB962C8B-B14F-4D97-AF65-F5344CB8AC3E}">
        <p14:creationId xmlns:p14="http://schemas.microsoft.com/office/powerpoint/2010/main" val="16570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521C412-1342-444E-BC27-48E27EFDC6EC}" type="datetime1">
              <a:rPr lang="en-IN" smtClean="0"/>
              <a:t>08-11-2024</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DAF6ABE-36BE-434E-9DBA-2121A22FA7B0}" type="slidenum">
              <a:rPr lang="en-IN" smtClean="0"/>
              <a:t>‹#›</a:t>
            </a:fld>
            <a:endParaRPr lang="en-IN"/>
          </a:p>
        </p:txBody>
      </p:sp>
    </p:spTree>
    <p:extLst>
      <p:ext uri="{BB962C8B-B14F-4D97-AF65-F5344CB8AC3E}">
        <p14:creationId xmlns:p14="http://schemas.microsoft.com/office/powerpoint/2010/main" val="347570624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pixnio.com/de/media/coronavirus-covid-19-person-protein-schal" TargetMode="External"/><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9ED51-E03C-6E2E-ED09-330D2B9C5204}"/>
              </a:ext>
            </a:extLst>
          </p:cNvPr>
          <p:cNvSpPr>
            <a:spLocks noGrp="1"/>
          </p:cNvSpPr>
          <p:nvPr>
            <p:ph type="ctrTitle"/>
          </p:nvPr>
        </p:nvSpPr>
        <p:spPr>
          <a:xfrm>
            <a:off x="1371600" y="1803405"/>
            <a:ext cx="9756648" cy="1825096"/>
          </a:xfrm>
        </p:spPr>
        <p:txBody>
          <a:bodyPr>
            <a:normAutofit/>
          </a:bodyPr>
          <a:lstStyle/>
          <a:p>
            <a:r>
              <a:rPr lang="en-US" sz="3500" b="1" dirty="0">
                <a:effectLst/>
                <a:latin typeface="Poppins" panose="00000500000000000000" pitchFamily="2" charset="0"/>
                <a:ea typeface="Times New Roman" panose="02020603050405020304" pitchFamily="18" charset="0"/>
                <a:cs typeface="Times New Roman" panose="02020603050405020304" pitchFamily="18" charset="0"/>
              </a:rPr>
              <a:t>COVID-19 Vaccinations Trend Analysis</a:t>
            </a:r>
            <a:endParaRPr lang="en-IN" sz="3500" dirty="0"/>
          </a:p>
        </p:txBody>
      </p:sp>
      <p:sp>
        <p:nvSpPr>
          <p:cNvPr id="3" name="Subtitle 2">
            <a:extLst>
              <a:ext uri="{FF2B5EF4-FFF2-40B4-BE49-F238E27FC236}">
                <a16:creationId xmlns:a16="http://schemas.microsoft.com/office/drawing/2014/main" id="{2376E951-CCC9-EA92-2997-282B5BCE2B6F}"/>
              </a:ext>
            </a:extLst>
          </p:cNvPr>
          <p:cNvSpPr>
            <a:spLocks noGrp="1"/>
          </p:cNvSpPr>
          <p:nvPr>
            <p:ph type="subTitle" idx="1"/>
          </p:nvPr>
        </p:nvSpPr>
        <p:spPr/>
        <p:txBody>
          <a:bodyPr/>
          <a:lstStyle/>
          <a:p>
            <a:r>
              <a:rPr lang="en-IN" u="sng" dirty="0">
                <a:solidFill>
                  <a:schemeClr val="bg1">
                    <a:lumMod val="85000"/>
                    <a:lumOff val="15000"/>
                  </a:schemeClr>
                </a:solidFill>
              </a:rPr>
              <a:t>Chris Fernandes</a:t>
            </a:r>
          </a:p>
        </p:txBody>
      </p:sp>
      <p:sp>
        <p:nvSpPr>
          <p:cNvPr id="4" name="Slide Number Placeholder 3">
            <a:extLst>
              <a:ext uri="{FF2B5EF4-FFF2-40B4-BE49-F238E27FC236}">
                <a16:creationId xmlns:a16="http://schemas.microsoft.com/office/drawing/2014/main" id="{08E38FAE-83B9-E3AC-ACE8-F1C17053FA8D}"/>
              </a:ext>
            </a:extLst>
          </p:cNvPr>
          <p:cNvSpPr>
            <a:spLocks noGrp="1"/>
          </p:cNvSpPr>
          <p:nvPr>
            <p:ph type="sldNum" sz="quarter" idx="12"/>
          </p:nvPr>
        </p:nvSpPr>
        <p:spPr>
          <a:xfrm>
            <a:off x="5204460" y="5883994"/>
            <a:ext cx="891540" cy="365125"/>
          </a:xfrm>
        </p:spPr>
        <p:txBody>
          <a:bodyPr/>
          <a:lstStyle/>
          <a:p>
            <a:fld id="{BDAF6ABE-36BE-434E-9DBA-2121A22FA7B0}" type="slidenum">
              <a:rPr lang="en-IN" smtClean="0"/>
              <a:t>1</a:t>
            </a:fld>
            <a:endParaRPr lang="en-IN" dirty="0"/>
          </a:p>
        </p:txBody>
      </p:sp>
    </p:spTree>
    <p:extLst>
      <p:ext uri="{BB962C8B-B14F-4D97-AF65-F5344CB8AC3E}">
        <p14:creationId xmlns:p14="http://schemas.microsoft.com/office/powerpoint/2010/main" val="3561264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84AA86-9DBA-4D08-7673-8C99E9D33875}"/>
              </a:ext>
            </a:extLst>
          </p:cNvPr>
          <p:cNvSpPr>
            <a:spLocks noGrp="1"/>
          </p:cNvSpPr>
          <p:nvPr>
            <p:ph type="title"/>
          </p:nvPr>
        </p:nvSpPr>
        <p:spPr>
          <a:xfrm>
            <a:off x="783432" y="362712"/>
            <a:ext cx="4114800" cy="1600200"/>
          </a:xfrm>
        </p:spPr>
        <p:txBody>
          <a:bodyPr/>
          <a:lstStyle/>
          <a:p>
            <a:r>
              <a:rPr lang="en-US" dirty="0"/>
              <a:t>agenda</a:t>
            </a:r>
            <a:endParaRPr lang="en-IN" dirty="0"/>
          </a:p>
        </p:txBody>
      </p:sp>
      <p:graphicFrame>
        <p:nvGraphicFramePr>
          <p:cNvPr id="8" name="Content Placeholder 7">
            <a:extLst>
              <a:ext uri="{FF2B5EF4-FFF2-40B4-BE49-F238E27FC236}">
                <a16:creationId xmlns:a16="http://schemas.microsoft.com/office/drawing/2014/main" id="{01664BD7-56FB-9E33-04F2-FDF91DF61E81}"/>
              </a:ext>
            </a:extLst>
          </p:cNvPr>
          <p:cNvGraphicFramePr>
            <a:graphicFrameLocks noGrp="1"/>
          </p:cNvGraphicFramePr>
          <p:nvPr>
            <p:ph idx="1"/>
            <p:extLst>
              <p:ext uri="{D42A27DB-BD31-4B8C-83A1-F6EECF244321}">
                <p14:modId xmlns:p14="http://schemas.microsoft.com/office/powerpoint/2010/main" val="1904838488"/>
              </p:ext>
            </p:extLst>
          </p:nvPr>
        </p:nvGraphicFramePr>
        <p:xfrm>
          <a:off x="8241696" y="503982"/>
          <a:ext cx="3636360" cy="5552080"/>
        </p:xfrm>
        <a:graphic>
          <a:graphicData uri="http://schemas.openxmlformats.org/drawingml/2006/table">
            <a:tbl>
              <a:tblPr firstRow="1" bandRow="1">
                <a:tableStyleId>{D27102A9-8310-4765-A935-A1911B00CA55}</a:tableStyleId>
              </a:tblPr>
              <a:tblGrid>
                <a:gridCol w="3636360">
                  <a:extLst>
                    <a:ext uri="{9D8B030D-6E8A-4147-A177-3AD203B41FA5}">
                      <a16:colId xmlns:a16="http://schemas.microsoft.com/office/drawing/2014/main" val="1992810696"/>
                    </a:ext>
                  </a:extLst>
                </a:gridCol>
              </a:tblGrid>
              <a:tr h="76546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t>INTRODUCTION</a:t>
                      </a:r>
                    </a:p>
                    <a:p>
                      <a:pPr algn="r"/>
                      <a:r>
                        <a:rPr lang="en-US" sz="1800" dirty="0"/>
                        <a:t>3</a:t>
                      </a:r>
                      <a:endParaRPr lang="en-US" sz="1800" dirty="0">
                        <a:latin typeface="+mj-lt"/>
                      </a:endParaRPr>
                    </a:p>
                  </a:txBody>
                  <a:tcPr/>
                </a:tc>
                <a:extLst>
                  <a:ext uri="{0D108BD9-81ED-4DB2-BD59-A6C34878D82A}">
                    <a16:rowId xmlns:a16="http://schemas.microsoft.com/office/drawing/2014/main" val="1084634722"/>
                  </a:ext>
                </a:extLst>
              </a:tr>
              <a:tr h="70055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t>PROBLEM STATEMENT</a:t>
                      </a:r>
                    </a:p>
                    <a:p>
                      <a:pPr marL="0" algn="r" defTabSz="914400" rtl="0" eaLnBrk="1" latinLnBrk="0" hangingPunct="1"/>
                      <a:r>
                        <a:rPr lang="en-US" sz="1800" kern="1200" dirty="0">
                          <a:solidFill>
                            <a:schemeClr val="tx1"/>
                          </a:solidFill>
                        </a:rPr>
                        <a:t>4</a:t>
                      </a:r>
                      <a:endParaRPr lang="en-US" sz="1800" kern="1200" dirty="0">
                        <a:solidFill>
                          <a:schemeClr val="tx1"/>
                        </a:solidFill>
                        <a:latin typeface="+mj-lt"/>
                        <a:ea typeface="+mn-ea"/>
                        <a:cs typeface="+mn-cs"/>
                      </a:endParaRPr>
                    </a:p>
                  </a:txBody>
                  <a:tcPr anchor="b"/>
                </a:tc>
                <a:extLst>
                  <a:ext uri="{0D108BD9-81ED-4DB2-BD59-A6C34878D82A}">
                    <a16:rowId xmlns:a16="http://schemas.microsoft.com/office/drawing/2014/main" val="204539050"/>
                  </a:ext>
                </a:extLst>
              </a:tr>
              <a:tr h="638513">
                <a:tc>
                  <a:txBody>
                    <a:bodyPr/>
                    <a:lstStyle/>
                    <a:p>
                      <a:pPr marL="0" algn="r" defTabSz="914400" rtl="0" eaLnBrk="1" latinLnBrk="0" hangingPunct="1"/>
                      <a:r>
                        <a:rPr lang="en-US" sz="2400" kern="1200" dirty="0">
                          <a:solidFill>
                            <a:schemeClr val="tx1"/>
                          </a:solidFill>
                        </a:rPr>
                        <a:t>METHODOLOGY</a:t>
                      </a:r>
                    </a:p>
                    <a:p>
                      <a:pPr marL="0" algn="r" defTabSz="914400" rtl="0" eaLnBrk="1" latinLnBrk="0" hangingPunct="1"/>
                      <a:r>
                        <a:rPr lang="en-US" sz="1800" kern="1200" dirty="0">
                          <a:solidFill>
                            <a:schemeClr val="tx1"/>
                          </a:solidFill>
                        </a:rPr>
                        <a:t>5</a:t>
                      </a:r>
                      <a:endParaRPr lang="en-US" sz="1800" kern="1200" dirty="0">
                        <a:solidFill>
                          <a:schemeClr val="tx1"/>
                        </a:solidFill>
                        <a:latin typeface="+mj-lt"/>
                        <a:ea typeface="+mn-ea"/>
                        <a:cs typeface="+mn-cs"/>
                      </a:endParaRPr>
                    </a:p>
                  </a:txBody>
                  <a:tcPr anchor="b"/>
                </a:tc>
                <a:extLst>
                  <a:ext uri="{0D108BD9-81ED-4DB2-BD59-A6C34878D82A}">
                    <a16:rowId xmlns:a16="http://schemas.microsoft.com/office/drawing/2014/main" val="764457605"/>
                  </a:ext>
                </a:extLst>
              </a:tr>
              <a:tr h="740664">
                <a:tc>
                  <a:txBody>
                    <a:bodyPr/>
                    <a:lstStyle/>
                    <a:p>
                      <a:pPr marL="0" algn="r" defTabSz="914400" rtl="0" eaLnBrk="1" latinLnBrk="0" hangingPunct="1"/>
                      <a:r>
                        <a:rPr lang="en-US" sz="2400" b="0" kern="1200" dirty="0">
                          <a:solidFill>
                            <a:schemeClr val="tx1"/>
                          </a:solidFill>
                          <a:effectLst/>
                        </a:rPr>
                        <a:t>ANALYSIS</a:t>
                      </a:r>
                    </a:p>
                    <a:p>
                      <a:pPr marL="0" algn="r" defTabSz="914400" rtl="0" eaLnBrk="1" latinLnBrk="0" hangingPunct="1"/>
                      <a:r>
                        <a:rPr lang="en-US" sz="1800" kern="1200" dirty="0">
                          <a:solidFill>
                            <a:schemeClr val="tx1"/>
                          </a:solidFill>
                          <a:latin typeface="+mj-lt"/>
                          <a:ea typeface="+mn-ea"/>
                          <a:cs typeface="+mn-cs"/>
                        </a:rPr>
                        <a:t>8</a:t>
                      </a:r>
                    </a:p>
                  </a:txBody>
                  <a:tcPr anchor="b"/>
                </a:tc>
                <a:extLst>
                  <a:ext uri="{0D108BD9-81ED-4DB2-BD59-A6C34878D82A}">
                    <a16:rowId xmlns:a16="http://schemas.microsoft.com/office/drawing/2014/main" val="397138938"/>
                  </a:ext>
                </a:extLst>
              </a:tr>
              <a:tr h="442177">
                <a:tc>
                  <a:txBody>
                    <a:bodyPr/>
                    <a:lstStyle/>
                    <a:p>
                      <a:pPr marL="0" algn="r" defTabSz="914400" rtl="0" eaLnBrk="1" latinLnBrk="0" hangingPunct="1"/>
                      <a:r>
                        <a:rPr lang="en-US" sz="2400" kern="1200" dirty="0">
                          <a:solidFill>
                            <a:schemeClr val="tx1"/>
                          </a:solidFill>
                        </a:rPr>
                        <a:t>INSIGHTS</a:t>
                      </a:r>
                    </a:p>
                    <a:p>
                      <a:pPr marL="0" algn="r" defTabSz="914400" rtl="0" eaLnBrk="1" latinLnBrk="0" hangingPunct="1"/>
                      <a:r>
                        <a:rPr lang="en-US" sz="1800" kern="1200" dirty="0">
                          <a:solidFill>
                            <a:schemeClr val="tx1"/>
                          </a:solidFill>
                        </a:rPr>
                        <a:t>12</a:t>
                      </a:r>
                    </a:p>
                    <a:p>
                      <a:pPr marL="0" algn="r" defTabSz="914400" rtl="0" eaLnBrk="1" latinLnBrk="0" hangingPunct="1"/>
                      <a:endParaRPr lang="en-US" sz="1800" kern="1200" dirty="0">
                        <a:solidFill>
                          <a:schemeClr val="tx1"/>
                        </a:solidFill>
                        <a:latin typeface="+mj-lt"/>
                        <a:ea typeface="+mn-ea"/>
                        <a:cs typeface="+mn-cs"/>
                      </a:endParaRPr>
                    </a:p>
                  </a:txBody>
                  <a:tcPr anchor="b"/>
                </a:tc>
                <a:extLst>
                  <a:ext uri="{0D108BD9-81ED-4DB2-BD59-A6C34878D82A}">
                    <a16:rowId xmlns:a16="http://schemas.microsoft.com/office/drawing/2014/main" val="2340360998"/>
                  </a:ext>
                </a:extLst>
              </a:tr>
              <a:tr h="669079">
                <a:tc>
                  <a:txBody>
                    <a:bodyPr/>
                    <a:lstStyle/>
                    <a:p>
                      <a:pPr marL="0" algn="r" defTabSz="914400" rtl="0" eaLnBrk="1" latinLnBrk="0" hangingPunct="1"/>
                      <a:r>
                        <a:rPr lang="en-US" sz="1800" kern="1200" dirty="0">
                          <a:solidFill>
                            <a:schemeClr val="tx1"/>
                          </a:solidFill>
                          <a:latin typeface="+mn-lt"/>
                          <a:ea typeface="+mn-ea"/>
                          <a:cs typeface="+mn-cs"/>
                        </a:rPr>
                        <a:t>RECOMMENDATION</a:t>
                      </a:r>
                    </a:p>
                    <a:p>
                      <a:pPr marL="0" algn="r" defTabSz="914400" rtl="0" eaLnBrk="1" latinLnBrk="0" hangingPunct="1"/>
                      <a:r>
                        <a:rPr lang="en-US" sz="1800" kern="1200" dirty="0">
                          <a:solidFill>
                            <a:schemeClr val="tx1"/>
                          </a:solidFill>
                          <a:latin typeface="+mn-lt"/>
                          <a:ea typeface="+mn-ea"/>
                          <a:cs typeface="+mn-cs"/>
                        </a:rPr>
                        <a:t>13</a:t>
                      </a:r>
                    </a:p>
                  </a:txBody>
                  <a:tcPr anchor="b"/>
                </a:tc>
                <a:extLst>
                  <a:ext uri="{0D108BD9-81ED-4DB2-BD59-A6C34878D82A}">
                    <a16:rowId xmlns:a16="http://schemas.microsoft.com/office/drawing/2014/main" val="765783929"/>
                  </a:ext>
                </a:extLst>
              </a:tr>
              <a:tr h="907990">
                <a:tc>
                  <a:txBody>
                    <a:bodyPr/>
                    <a:lstStyle/>
                    <a:p>
                      <a:pPr marL="0" algn="r" defTabSz="914400" rtl="0" eaLnBrk="1" latinLnBrk="0" hangingPunct="1"/>
                      <a:r>
                        <a:rPr lang="en-US" sz="1800" kern="1200" dirty="0">
                          <a:solidFill>
                            <a:schemeClr val="tx1"/>
                          </a:solidFill>
                          <a:latin typeface="+mn-lt"/>
                          <a:ea typeface="+mn-ea"/>
                          <a:cs typeface="+mn-cs"/>
                        </a:rPr>
                        <a:t>CONCLUSION</a:t>
                      </a:r>
                    </a:p>
                    <a:p>
                      <a:pPr marL="0" algn="r" defTabSz="914400" rtl="0" eaLnBrk="1" latinLnBrk="0" hangingPunct="1"/>
                      <a:r>
                        <a:rPr lang="en-US" sz="1800" kern="1200" dirty="0">
                          <a:solidFill>
                            <a:schemeClr val="tx1"/>
                          </a:solidFill>
                          <a:latin typeface="+mn-lt"/>
                          <a:ea typeface="+mn-ea"/>
                          <a:cs typeface="+mn-cs"/>
                        </a:rPr>
                        <a:t>14</a:t>
                      </a:r>
                    </a:p>
                  </a:txBody>
                  <a:tcPr anchor="b"/>
                </a:tc>
                <a:extLst>
                  <a:ext uri="{0D108BD9-81ED-4DB2-BD59-A6C34878D82A}">
                    <a16:rowId xmlns:a16="http://schemas.microsoft.com/office/drawing/2014/main" val="1970919445"/>
                  </a:ext>
                </a:extLst>
              </a:tr>
            </a:tbl>
          </a:graphicData>
        </a:graphic>
      </p:graphicFrame>
      <p:sp>
        <p:nvSpPr>
          <p:cNvPr id="6" name="Text Placeholder 5">
            <a:extLst>
              <a:ext uri="{FF2B5EF4-FFF2-40B4-BE49-F238E27FC236}">
                <a16:creationId xmlns:a16="http://schemas.microsoft.com/office/drawing/2014/main" id="{DC8D3EB1-F23F-B3B3-350E-BA68FD2F05F7}"/>
              </a:ext>
            </a:extLst>
          </p:cNvPr>
          <p:cNvSpPr>
            <a:spLocks noGrp="1"/>
          </p:cNvSpPr>
          <p:nvPr>
            <p:ph type="body" sz="half" idx="2"/>
          </p:nvPr>
        </p:nvSpPr>
        <p:spPr>
          <a:xfrm>
            <a:off x="2322576" y="2036063"/>
            <a:ext cx="4114800" cy="3094485"/>
          </a:xfrm>
        </p:spPr>
        <p:txBody>
          <a:bodyPr/>
          <a:lstStyle/>
          <a:p>
            <a:pPr marR="0" lvl="0" algn="ctr">
              <a:lnSpc>
                <a:spcPct val="107000"/>
              </a:lnSpc>
              <a:spcBef>
                <a:spcPts val="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Aim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ctr">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The aim of this project analyzes the trend of COVID-19 Vaccination around the world and determine the effectiveness of vaccines based on country and year.</a:t>
            </a:r>
          </a:p>
          <a:p>
            <a:endParaRPr lang="en-IN" dirty="0"/>
          </a:p>
        </p:txBody>
      </p:sp>
      <p:sp>
        <p:nvSpPr>
          <p:cNvPr id="9" name="Slide Number Placeholder 8">
            <a:extLst>
              <a:ext uri="{FF2B5EF4-FFF2-40B4-BE49-F238E27FC236}">
                <a16:creationId xmlns:a16="http://schemas.microsoft.com/office/drawing/2014/main" id="{49E93825-56F6-8AD8-4696-FEA13B0E0B59}"/>
              </a:ext>
            </a:extLst>
          </p:cNvPr>
          <p:cNvSpPr>
            <a:spLocks noGrp="1"/>
          </p:cNvSpPr>
          <p:nvPr>
            <p:ph type="sldNum" sz="quarter" idx="12"/>
          </p:nvPr>
        </p:nvSpPr>
        <p:spPr>
          <a:xfrm>
            <a:off x="2731104" y="5873499"/>
            <a:ext cx="2743200" cy="365125"/>
          </a:xfrm>
        </p:spPr>
        <p:txBody>
          <a:bodyPr/>
          <a:lstStyle/>
          <a:p>
            <a:fld id="{BDAF6ABE-36BE-434E-9DBA-2121A22FA7B0}" type="slidenum">
              <a:rPr lang="en-IN" smtClean="0"/>
              <a:t>2</a:t>
            </a:fld>
            <a:endParaRPr lang="en-IN" dirty="0"/>
          </a:p>
        </p:txBody>
      </p:sp>
    </p:spTree>
    <p:extLst>
      <p:ext uri="{BB962C8B-B14F-4D97-AF65-F5344CB8AC3E}">
        <p14:creationId xmlns:p14="http://schemas.microsoft.com/office/powerpoint/2010/main" val="1985714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65271CC-663A-BB53-BD5F-C8B3C9EE60C8}"/>
              </a:ext>
            </a:extLst>
          </p:cNvPr>
          <p:cNvSpPr>
            <a:spLocks noGrp="1"/>
          </p:cNvSpPr>
          <p:nvPr>
            <p:ph type="title"/>
          </p:nvPr>
        </p:nvSpPr>
        <p:spPr>
          <a:xfrm>
            <a:off x="685800" y="978408"/>
            <a:ext cx="6873240" cy="1152144"/>
          </a:xfrm>
        </p:spPr>
        <p:txBody>
          <a:bodyPr/>
          <a:lstStyle/>
          <a:p>
            <a:r>
              <a:rPr lang="en-US" dirty="0">
                <a:latin typeface="Algerian" panose="04020705040A02060702" pitchFamily="82" charset="0"/>
              </a:rPr>
              <a:t>Introduction</a:t>
            </a:r>
            <a:endParaRPr lang="en-IN" dirty="0">
              <a:latin typeface="Algerian" panose="04020705040A02060702" pitchFamily="82" charset="0"/>
            </a:endParaRPr>
          </a:p>
        </p:txBody>
      </p:sp>
      <p:pic>
        <p:nvPicPr>
          <p:cNvPr id="9" name="Picture Placeholder 8">
            <a:extLst>
              <a:ext uri="{FF2B5EF4-FFF2-40B4-BE49-F238E27FC236}">
                <a16:creationId xmlns:a16="http://schemas.microsoft.com/office/drawing/2014/main" id="{4CE4FA94-930E-5A35-F7A3-DC5F4DFE5F09}"/>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7778" r="27778"/>
          <a:stretch>
            <a:fillRect/>
          </a:stretch>
        </p:blipFill>
        <p:spPr/>
      </p:pic>
      <p:sp>
        <p:nvSpPr>
          <p:cNvPr id="7" name="Text Placeholder 6">
            <a:extLst>
              <a:ext uri="{FF2B5EF4-FFF2-40B4-BE49-F238E27FC236}">
                <a16:creationId xmlns:a16="http://schemas.microsoft.com/office/drawing/2014/main" id="{2BE7A21E-DF5E-C16A-ABF5-84CD6AE81692}"/>
              </a:ext>
            </a:extLst>
          </p:cNvPr>
          <p:cNvSpPr>
            <a:spLocks noGrp="1"/>
          </p:cNvSpPr>
          <p:nvPr>
            <p:ph type="body" sz="half" idx="2"/>
          </p:nvPr>
        </p:nvSpPr>
        <p:spPr/>
        <p:txBody>
          <a:bodyPr/>
          <a:lstStyle/>
          <a:p>
            <a:r>
              <a:rPr lang="en-US" sz="1600" dirty="0">
                <a:effectLst/>
                <a:latin typeface="Calibri" panose="020F0502020204030204" pitchFamily="34" charset="0"/>
                <a:ea typeface="Calibri" panose="020F0502020204030204" pitchFamily="34" charset="0"/>
                <a:cs typeface="Times New Roman" panose="02020603050405020304" pitchFamily="18" charset="0"/>
              </a:rPr>
              <a:t>COVID-19 has had a significant impact on the world, causing widespread illness, death, and disruptions to daily life. Governments and public health organizations around the world have implemented various measures to slow the spread of the virus, such as social distancing, mask-wearing, and lockdowns. Vaccines have also been developed and authorized for emergency use, and vaccination campaigns are ongoing in many countries.</a:t>
            </a:r>
          </a:p>
          <a:p>
            <a:endParaRPr lang="en-IN" dirty="0"/>
          </a:p>
        </p:txBody>
      </p:sp>
      <p:sp>
        <p:nvSpPr>
          <p:cNvPr id="10" name="Slide Number Placeholder 9">
            <a:extLst>
              <a:ext uri="{FF2B5EF4-FFF2-40B4-BE49-F238E27FC236}">
                <a16:creationId xmlns:a16="http://schemas.microsoft.com/office/drawing/2014/main" id="{2C887BB3-9BC4-B607-0D10-F15F99D96634}"/>
              </a:ext>
            </a:extLst>
          </p:cNvPr>
          <p:cNvSpPr>
            <a:spLocks noGrp="1"/>
          </p:cNvSpPr>
          <p:nvPr>
            <p:ph type="sldNum" sz="quarter" idx="12"/>
          </p:nvPr>
        </p:nvSpPr>
        <p:spPr>
          <a:xfrm>
            <a:off x="3352800" y="5853559"/>
            <a:ext cx="2743200" cy="365125"/>
          </a:xfrm>
        </p:spPr>
        <p:txBody>
          <a:bodyPr/>
          <a:lstStyle/>
          <a:p>
            <a:fld id="{BDAF6ABE-36BE-434E-9DBA-2121A22FA7B0}" type="slidenum">
              <a:rPr lang="en-IN" smtClean="0"/>
              <a:t>3</a:t>
            </a:fld>
            <a:endParaRPr lang="en-IN" dirty="0"/>
          </a:p>
        </p:txBody>
      </p:sp>
    </p:spTree>
    <p:extLst>
      <p:ext uri="{BB962C8B-B14F-4D97-AF65-F5344CB8AC3E}">
        <p14:creationId xmlns:p14="http://schemas.microsoft.com/office/powerpoint/2010/main" val="4154848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00F57E-38B2-1B1F-243B-1621B97CF09D}"/>
              </a:ext>
            </a:extLst>
          </p:cNvPr>
          <p:cNvSpPr>
            <a:spLocks noGrp="1"/>
          </p:cNvSpPr>
          <p:nvPr>
            <p:ph type="title"/>
          </p:nvPr>
        </p:nvSpPr>
        <p:spPr>
          <a:xfrm>
            <a:off x="685800" y="753533"/>
            <a:ext cx="10820399" cy="955675"/>
          </a:xfrm>
        </p:spPr>
        <p:txBody>
          <a:bodyPr/>
          <a:lstStyle/>
          <a:p>
            <a:pPr algn="l"/>
            <a:r>
              <a:rPr lang="en-IN" dirty="0"/>
              <a:t>Problem Statement</a:t>
            </a:r>
          </a:p>
        </p:txBody>
      </p:sp>
      <p:sp>
        <p:nvSpPr>
          <p:cNvPr id="6" name="Subtitle 5">
            <a:extLst>
              <a:ext uri="{FF2B5EF4-FFF2-40B4-BE49-F238E27FC236}">
                <a16:creationId xmlns:a16="http://schemas.microsoft.com/office/drawing/2014/main" id="{3012E8A9-A404-C8E3-79BD-7909519C5D81}"/>
              </a:ext>
            </a:extLst>
          </p:cNvPr>
          <p:cNvSpPr>
            <a:spLocks noGrp="1"/>
          </p:cNvSpPr>
          <p:nvPr>
            <p:ph type="body" idx="1"/>
          </p:nvPr>
        </p:nvSpPr>
        <p:spPr>
          <a:xfrm>
            <a:off x="1015999" y="2048257"/>
            <a:ext cx="10490200" cy="329184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n-US" sz="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 order to know how many people are fully vaccinated by the initial protocol.</a:t>
            </a:r>
          </a:p>
          <a:p>
            <a:pPr marL="342900" marR="0" lvl="0" indent="-342900" algn="just">
              <a:lnSpc>
                <a:spcPct val="107000"/>
              </a:lnSpc>
              <a:spcBef>
                <a:spcPts val="0"/>
              </a:spcBef>
              <a:spcAft>
                <a:spcPts val="0"/>
              </a:spcAft>
              <a:buFont typeface="Symbol" panose="05050102010706020507" pitchFamily="18" charset="2"/>
              <a:buChar char=""/>
            </a:pPr>
            <a:r>
              <a:rPr lang="en-US" sz="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 know the population which has received at least one dose of the vaccine.</a:t>
            </a:r>
          </a:p>
          <a:p>
            <a:pPr marL="342900" marR="0" lvl="0" indent="-342900" algn="just">
              <a:lnSpc>
                <a:spcPct val="107000"/>
              </a:lnSpc>
              <a:spcBef>
                <a:spcPts val="0"/>
              </a:spcBef>
              <a:spcAft>
                <a:spcPts val="0"/>
              </a:spcAft>
              <a:buFont typeface="Symbol" panose="05050102010706020507" pitchFamily="18" charset="2"/>
              <a:buChar char=""/>
            </a:pPr>
            <a:r>
              <a:rPr lang="en-US" sz="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different vaccines used and their availability in different countries.</a:t>
            </a:r>
          </a:p>
          <a:p>
            <a:pPr marL="342900" marR="0" lvl="0" indent="-342900" algn="just">
              <a:lnSpc>
                <a:spcPct val="107000"/>
              </a:lnSpc>
              <a:spcBef>
                <a:spcPts val="0"/>
              </a:spcBef>
              <a:spcAft>
                <a:spcPts val="0"/>
              </a:spcAft>
              <a:buFont typeface="Symbol" panose="05050102010706020507" pitchFamily="18" charset="2"/>
              <a:buChar char=""/>
            </a:pPr>
            <a:r>
              <a:rPr lang="en-US" sz="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We can find out how many people are completely vaccinated.</a:t>
            </a:r>
          </a:p>
          <a:p>
            <a:pPr marL="342900" marR="0" lvl="0" indent="-342900" algn="just">
              <a:lnSpc>
                <a:spcPct val="107000"/>
              </a:lnSpc>
              <a:spcBef>
                <a:spcPts val="0"/>
              </a:spcBef>
              <a:spcAft>
                <a:spcPts val="800"/>
              </a:spcAft>
              <a:buFont typeface="Symbol" panose="05050102010706020507" pitchFamily="18" charset="2"/>
              <a:buChar char=""/>
            </a:pPr>
            <a:r>
              <a:rPr lang="en-US" sz="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Total vaccinations by each year and then by country. In this analysis, we can see the number of people vaccinated per hundred.</a:t>
            </a:r>
          </a:p>
          <a:p>
            <a:endParaRPr lang="en-IN" dirty="0"/>
          </a:p>
        </p:txBody>
      </p:sp>
      <p:sp>
        <p:nvSpPr>
          <p:cNvPr id="7" name="Slide Number Placeholder 6">
            <a:extLst>
              <a:ext uri="{FF2B5EF4-FFF2-40B4-BE49-F238E27FC236}">
                <a16:creationId xmlns:a16="http://schemas.microsoft.com/office/drawing/2014/main" id="{30988A7C-C4AF-6F6B-5218-DAF7A73EDE26}"/>
              </a:ext>
            </a:extLst>
          </p:cNvPr>
          <p:cNvSpPr>
            <a:spLocks noGrp="1"/>
          </p:cNvSpPr>
          <p:nvPr>
            <p:ph type="sldNum" sz="quarter" idx="12"/>
          </p:nvPr>
        </p:nvSpPr>
        <p:spPr>
          <a:xfrm>
            <a:off x="5452251" y="5340097"/>
            <a:ext cx="643748" cy="365125"/>
          </a:xfrm>
        </p:spPr>
        <p:txBody>
          <a:bodyPr/>
          <a:lstStyle/>
          <a:p>
            <a:fld id="{BDAF6ABE-36BE-434E-9DBA-2121A22FA7B0}" type="slidenum">
              <a:rPr lang="en-IN" smtClean="0"/>
              <a:t>4</a:t>
            </a:fld>
            <a:endParaRPr lang="en-IN"/>
          </a:p>
        </p:txBody>
      </p:sp>
    </p:spTree>
    <p:extLst>
      <p:ext uri="{BB962C8B-B14F-4D97-AF65-F5344CB8AC3E}">
        <p14:creationId xmlns:p14="http://schemas.microsoft.com/office/powerpoint/2010/main" val="1069534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44F14-C4D3-61F1-504D-32E4CCB94EE2}"/>
              </a:ext>
            </a:extLst>
          </p:cNvPr>
          <p:cNvSpPr>
            <a:spLocks noGrp="1"/>
          </p:cNvSpPr>
          <p:nvPr>
            <p:ph type="title"/>
          </p:nvPr>
        </p:nvSpPr>
        <p:spPr>
          <a:xfrm>
            <a:off x="685800" y="753533"/>
            <a:ext cx="10820399" cy="682075"/>
          </a:xfrm>
        </p:spPr>
        <p:txBody>
          <a:bodyPr/>
          <a:lstStyle/>
          <a:p>
            <a:pPr algn="l"/>
            <a:r>
              <a:rPr lang="en-IN" dirty="0">
                <a:latin typeface="Sagona Book" panose="020F0502020204030204" pitchFamily="34" charset="0"/>
              </a:rPr>
              <a:t>M</a:t>
            </a:r>
            <a:r>
              <a:rPr lang="en-US" dirty="0" err="1">
                <a:latin typeface="Sagona Book" panose="020F0502020204030204" pitchFamily="34" charset="0"/>
              </a:rPr>
              <a:t>ethodology</a:t>
            </a:r>
            <a:endParaRPr lang="en-IN" dirty="0"/>
          </a:p>
        </p:txBody>
      </p:sp>
      <p:sp>
        <p:nvSpPr>
          <p:cNvPr id="3" name="Text Placeholder 2">
            <a:extLst>
              <a:ext uri="{FF2B5EF4-FFF2-40B4-BE49-F238E27FC236}">
                <a16:creationId xmlns:a16="http://schemas.microsoft.com/office/drawing/2014/main" id="{8E499F97-ADFD-517B-FDE3-498D3C8A6957}"/>
              </a:ext>
            </a:extLst>
          </p:cNvPr>
          <p:cNvSpPr>
            <a:spLocks noGrp="1"/>
          </p:cNvSpPr>
          <p:nvPr>
            <p:ph type="body" idx="1"/>
          </p:nvPr>
        </p:nvSpPr>
        <p:spPr>
          <a:xfrm>
            <a:off x="530352" y="2075688"/>
            <a:ext cx="10984315" cy="2521712"/>
          </a:xfrm>
        </p:spPr>
        <p:txBody>
          <a:bodyPr>
            <a:normAutofit fontScale="77500" lnSpcReduction="20000"/>
          </a:bodyPr>
          <a:lstStyle/>
          <a:p>
            <a:pPr marL="0" indent="0" algn="l">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The dataset was provided with the project assignment which is basically the data available for the public and which is collected from the respective health departments of the countries or from the WHO.</a:t>
            </a:r>
          </a:p>
          <a:p>
            <a:pPr marL="0" indent="0" algn="l">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l">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The dataset contains information for the period December 2020 to March 2022.</a:t>
            </a:r>
          </a:p>
          <a:p>
            <a:pPr marL="0" indent="0" algn="l">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514350" algn="l">
              <a:buFont typeface="+mj-lt"/>
              <a:buAutoNum type="alphaLcPeriod"/>
            </a:pPr>
            <a:r>
              <a:rPr lang="en-US" b="1" dirty="0"/>
              <a:t>Data Cleaning</a:t>
            </a:r>
          </a:p>
          <a:p>
            <a:pPr marL="514350" indent="-514350" algn="l">
              <a:buFont typeface="+mj-lt"/>
              <a:buAutoNum type="alphaLcPeriod"/>
            </a:pPr>
            <a:r>
              <a:rPr lang="en-US" b="1" dirty="0"/>
              <a:t>Data Exploration</a:t>
            </a:r>
          </a:p>
          <a:p>
            <a:pPr marL="514350" indent="-514350" algn="l">
              <a:buFont typeface="+mj-lt"/>
              <a:buAutoNum type="alphaLcPeriod"/>
            </a:pPr>
            <a:r>
              <a:rPr lang="en-US" b="1" dirty="0"/>
              <a:t>Data Visualization</a:t>
            </a:r>
          </a:p>
          <a:p>
            <a:pPr algn="ctr"/>
            <a:endParaRPr lang="en-IN" dirty="0"/>
          </a:p>
        </p:txBody>
      </p:sp>
      <p:sp>
        <p:nvSpPr>
          <p:cNvPr id="4" name="Slide Number Placeholder 3">
            <a:extLst>
              <a:ext uri="{FF2B5EF4-FFF2-40B4-BE49-F238E27FC236}">
                <a16:creationId xmlns:a16="http://schemas.microsoft.com/office/drawing/2014/main" id="{452465B1-5A06-4D81-1976-EA94DA133104}"/>
              </a:ext>
            </a:extLst>
          </p:cNvPr>
          <p:cNvSpPr>
            <a:spLocks noGrp="1"/>
          </p:cNvSpPr>
          <p:nvPr>
            <p:ph type="sldNum" sz="quarter" idx="12"/>
          </p:nvPr>
        </p:nvSpPr>
        <p:spPr>
          <a:xfrm>
            <a:off x="5637841" y="5237480"/>
            <a:ext cx="384668" cy="365125"/>
          </a:xfrm>
        </p:spPr>
        <p:txBody>
          <a:bodyPr/>
          <a:lstStyle/>
          <a:p>
            <a:fld id="{BDAF6ABE-36BE-434E-9DBA-2121A22FA7B0}" type="slidenum">
              <a:rPr lang="en-IN" smtClean="0"/>
              <a:t>5</a:t>
            </a:fld>
            <a:endParaRPr lang="en-IN" dirty="0"/>
          </a:p>
        </p:txBody>
      </p:sp>
    </p:spTree>
    <p:extLst>
      <p:ext uri="{BB962C8B-B14F-4D97-AF65-F5344CB8AC3E}">
        <p14:creationId xmlns:p14="http://schemas.microsoft.com/office/powerpoint/2010/main" val="16469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C77ED6-CAA7-DC28-819C-3B83A95D7113}"/>
              </a:ext>
            </a:extLst>
          </p:cNvPr>
          <p:cNvSpPr>
            <a:spLocks noGrp="1"/>
          </p:cNvSpPr>
          <p:nvPr>
            <p:ph type="title"/>
          </p:nvPr>
        </p:nvSpPr>
        <p:spPr>
          <a:xfrm>
            <a:off x="1588008" y="782661"/>
            <a:ext cx="8610600" cy="534075"/>
          </a:xfrm>
        </p:spPr>
        <p:txBody>
          <a:bodyPr>
            <a:normAutofit fontScale="90000"/>
          </a:bodyPr>
          <a:lstStyle/>
          <a:p>
            <a:pPr algn="ctr"/>
            <a:r>
              <a:rPr lang="en-IN" dirty="0">
                <a:ln>
                  <a:solidFill>
                    <a:sysClr val="windowText" lastClr="000000"/>
                  </a:solidFill>
                </a:ln>
              </a:rPr>
              <a:t>Report view</a:t>
            </a:r>
          </a:p>
        </p:txBody>
      </p:sp>
      <p:pic>
        <p:nvPicPr>
          <p:cNvPr id="7" name="Content Placeholder 6">
            <a:extLst>
              <a:ext uri="{FF2B5EF4-FFF2-40B4-BE49-F238E27FC236}">
                <a16:creationId xmlns:a16="http://schemas.microsoft.com/office/drawing/2014/main" id="{28FC65C1-ABF2-D4A3-723B-C675C267045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672" r="3353" b="4027"/>
          <a:stretch/>
        </p:blipFill>
        <p:spPr>
          <a:xfrm>
            <a:off x="1508759" y="1462913"/>
            <a:ext cx="9582913" cy="4800727"/>
          </a:xfrm>
        </p:spPr>
      </p:pic>
      <p:sp>
        <p:nvSpPr>
          <p:cNvPr id="8" name="Slide Number Placeholder 7">
            <a:extLst>
              <a:ext uri="{FF2B5EF4-FFF2-40B4-BE49-F238E27FC236}">
                <a16:creationId xmlns:a16="http://schemas.microsoft.com/office/drawing/2014/main" id="{4C9A4EEF-9207-AA99-1F40-C9CD1E0D474E}"/>
              </a:ext>
            </a:extLst>
          </p:cNvPr>
          <p:cNvSpPr>
            <a:spLocks noGrp="1"/>
          </p:cNvSpPr>
          <p:nvPr>
            <p:ph type="sldNum" sz="quarter" idx="12"/>
          </p:nvPr>
        </p:nvSpPr>
        <p:spPr>
          <a:xfrm>
            <a:off x="3633216" y="6409817"/>
            <a:ext cx="2743200" cy="365125"/>
          </a:xfrm>
        </p:spPr>
        <p:txBody>
          <a:bodyPr/>
          <a:lstStyle/>
          <a:p>
            <a:fld id="{BDAF6ABE-36BE-434E-9DBA-2121A22FA7B0}" type="slidenum">
              <a:rPr lang="en-IN" smtClean="0"/>
              <a:t>6</a:t>
            </a:fld>
            <a:endParaRPr lang="en-IN" dirty="0"/>
          </a:p>
        </p:txBody>
      </p:sp>
    </p:spTree>
    <p:extLst>
      <p:ext uri="{BB962C8B-B14F-4D97-AF65-F5344CB8AC3E}">
        <p14:creationId xmlns:p14="http://schemas.microsoft.com/office/powerpoint/2010/main" val="223971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DB93A-C477-B0E2-6561-CAE7B497A6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8233B3-646D-9EF7-E1AE-92778ACD90E3}"/>
              </a:ext>
            </a:extLst>
          </p:cNvPr>
          <p:cNvSpPr>
            <a:spLocks noGrp="1"/>
          </p:cNvSpPr>
          <p:nvPr>
            <p:ph type="title"/>
          </p:nvPr>
        </p:nvSpPr>
        <p:spPr>
          <a:xfrm>
            <a:off x="1560576" y="764372"/>
            <a:ext cx="8610600" cy="534075"/>
          </a:xfrm>
        </p:spPr>
        <p:txBody>
          <a:bodyPr>
            <a:normAutofit fontScale="90000"/>
          </a:bodyPr>
          <a:lstStyle/>
          <a:p>
            <a:pPr algn="ctr"/>
            <a:r>
              <a:rPr lang="en-IN" dirty="0">
                <a:ln>
                  <a:solidFill>
                    <a:sysClr val="windowText" lastClr="000000"/>
                  </a:solidFill>
                </a:ln>
              </a:rPr>
              <a:t>Report view</a:t>
            </a:r>
          </a:p>
        </p:txBody>
      </p:sp>
      <p:pic>
        <p:nvPicPr>
          <p:cNvPr id="7" name="Content Placeholder 6">
            <a:extLst>
              <a:ext uri="{FF2B5EF4-FFF2-40B4-BE49-F238E27FC236}">
                <a16:creationId xmlns:a16="http://schemas.microsoft.com/office/drawing/2014/main" id="{C598FEE6-5E23-D3AF-15CC-E7BACC920CB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481" t="1806" r="5821" b="5220"/>
          <a:stretch/>
        </p:blipFill>
        <p:spPr>
          <a:xfrm>
            <a:off x="1207008" y="1364321"/>
            <a:ext cx="9317736" cy="4910195"/>
          </a:xfrm>
        </p:spPr>
      </p:pic>
      <p:sp>
        <p:nvSpPr>
          <p:cNvPr id="2" name="Slide Number Placeholder 1">
            <a:extLst>
              <a:ext uri="{FF2B5EF4-FFF2-40B4-BE49-F238E27FC236}">
                <a16:creationId xmlns:a16="http://schemas.microsoft.com/office/drawing/2014/main" id="{981D21B8-8D40-C026-49AC-334693614D18}"/>
              </a:ext>
            </a:extLst>
          </p:cNvPr>
          <p:cNvSpPr>
            <a:spLocks noGrp="1"/>
          </p:cNvSpPr>
          <p:nvPr>
            <p:ph type="sldNum" sz="quarter" idx="12"/>
          </p:nvPr>
        </p:nvSpPr>
        <p:spPr>
          <a:xfrm>
            <a:off x="3396996" y="6340391"/>
            <a:ext cx="2743200" cy="365125"/>
          </a:xfrm>
        </p:spPr>
        <p:txBody>
          <a:bodyPr/>
          <a:lstStyle/>
          <a:p>
            <a:fld id="{BDAF6ABE-36BE-434E-9DBA-2121A22FA7B0}" type="slidenum">
              <a:rPr lang="en-IN" smtClean="0"/>
              <a:t>7</a:t>
            </a:fld>
            <a:endParaRPr lang="en-IN"/>
          </a:p>
        </p:txBody>
      </p:sp>
    </p:spTree>
    <p:extLst>
      <p:ext uri="{BB962C8B-B14F-4D97-AF65-F5344CB8AC3E}">
        <p14:creationId xmlns:p14="http://schemas.microsoft.com/office/powerpoint/2010/main" val="1318253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56EFE-B26F-B4BD-D277-3B9F9CB491AD}"/>
              </a:ext>
            </a:extLst>
          </p:cNvPr>
          <p:cNvSpPr>
            <a:spLocks noGrp="1"/>
          </p:cNvSpPr>
          <p:nvPr>
            <p:ph type="title"/>
          </p:nvPr>
        </p:nvSpPr>
        <p:spPr>
          <a:xfrm>
            <a:off x="1024467" y="159173"/>
            <a:ext cx="10820399" cy="691219"/>
          </a:xfrm>
        </p:spPr>
        <p:txBody>
          <a:bodyPr/>
          <a:lstStyle/>
          <a:p>
            <a:pPr algn="l"/>
            <a:r>
              <a:rPr lang="en-IN" dirty="0"/>
              <a:t>Data Analysis</a:t>
            </a:r>
          </a:p>
        </p:txBody>
      </p:sp>
      <p:sp>
        <p:nvSpPr>
          <p:cNvPr id="3" name="Text Placeholder 2">
            <a:extLst>
              <a:ext uri="{FF2B5EF4-FFF2-40B4-BE49-F238E27FC236}">
                <a16:creationId xmlns:a16="http://schemas.microsoft.com/office/drawing/2014/main" id="{2F5469D9-CCC0-EF7B-9CC2-D9476C2ACAE6}"/>
              </a:ext>
            </a:extLst>
          </p:cNvPr>
          <p:cNvSpPr>
            <a:spLocks noGrp="1"/>
          </p:cNvSpPr>
          <p:nvPr>
            <p:ph type="body" idx="1"/>
          </p:nvPr>
        </p:nvSpPr>
        <p:spPr>
          <a:xfrm>
            <a:off x="1024467" y="1344168"/>
            <a:ext cx="10490200" cy="3877055"/>
          </a:xfrm>
        </p:spPr>
        <p:txBody>
          <a:bodyPr>
            <a:normAutofit/>
          </a:bodyPr>
          <a:lstStyle/>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Country – The name of the countries (169 Countries in total)</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ISO Code – Code initials for the countries</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Date – The date, month and year of the data collected</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Total vaccinations – The total number of vaccinations administered which is nothing but the sum of the doses given on any particular date to the total vaccinations of the previous day.</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People vaccinated – The total number of people who received at least one dose of vaccine. This is also an aggregated column meaning it is the sum of the total of the previous day to the vaccinations of the present day.</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People fully vaccinated – The aggregated value of people who received the desired number of doses (min 2 doses and 1 booster dose may or may not be included).</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Daily Vaccinations Raw – gives the raw data collected on vaccinations</a:t>
            </a:r>
          </a:p>
          <a:p>
            <a:pPr algn="l"/>
            <a:endParaRPr lang="en-IN" sz="1600" dirty="0"/>
          </a:p>
        </p:txBody>
      </p:sp>
      <p:sp>
        <p:nvSpPr>
          <p:cNvPr id="4" name="Slide Number Placeholder 3">
            <a:extLst>
              <a:ext uri="{FF2B5EF4-FFF2-40B4-BE49-F238E27FC236}">
                <a16:creationId xmlns:a16="http://schemas.microsoft.com/office/drawing/2014/main" id="{F567856A-4B78-4C89-C703-2A97A4F9E0A9}"/>
              </a:ext>
            </a:extLst>
          </p:cNvPr>
          <p:cNvSpPr>
            <a:spLocks noGrp="1"/>
          </p:cNvSpPr>
          <p:nvPr>
            <p:ph type="sldNum" sz="quarter" idx="12"/>
          </p:nvPr>
        </p:nvSpPr>
        <p:spPr>
          <a:xfrm>
            <a:off x="5452252" y="5221223"/>
            <a:ext cx="643748" cy="365125"/>
          </a:xfrm>
        </p:spPr>
        <p:txBody>
          <a:bodyPr/>
          <a:lstStyle/>
          <a:p>
            <a:fld id="{BDAF6ABE-36BE-434E-9DBA-2121A22FA7B0}" type="slidenum">
              <a:rPr lang="en-IN" smtClean="0"/>
              <a:t>8</a:t>
            </a:fld>
            <a:endParaRPr lang="en-IN"/>
          </a:p>
        </p:txBody>
      </p:sp>
    </p:spTree>
    <p:extLst>
      <p:ext uri="{BB962C8B-B14F-4D97-AF65-F5344CB8AC3E}">
        <p14:creationId xmlns:p14="http://schemas.microsoft.com/office/powerpoint/2010/main" val="3260831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1D443-5131-015C-E836-B4F79C9D4790}"/>
              </a:ext>
            </a:extLst>
          </p:cNvPr>
          <p:cNvSpPr>
            <a:spLocks noGrp="1"/>
          </p:cNvSpPr>
          <p:nvPr>
            <p:ph type="title"/>
          </p:nvPr>
        </p:nvSpPr>
        <p:spPr>
          <a:xfrm>
            <a:off x="905932" y="168317"/>
            <a:ext cx="10820399" cy="709507"/>
          </a:xfrm>
        </p:spPr>
        <p:txBody>
          <a:bodyPr/>
          <a:lstStyle/>
          <a:p>
            <a:pPr algn="l"/>
            <a:r>
              <a:rPr lang="en-IN" dirty="0"/>
              <a:t>Data Analysis</a:t>
            </a:r>
          </a:p>
        </p:txBody>
      </p:sp>
      <p:sp>
        <p:nvSpPr>
          <p:cNvPr id="3" name="Text Placeholder 2">
            <a:extLst>
              <a:ext uri="{FF2B5EF4-FFF2-40B4-BE49-F238E27FC236}">
                <a16:creationId xmlns:a16="http://schemas.microsoft.com/office/drawing/2014/main" id="{23D1A3E5-E1C5-44CC-E981-9300CF0CB84F}"/>
              </a:ext>
            </a:extLst>
          </p:cNvPr>
          <p:cNvSpPr>
            <a:spLocks noGrp="1"/>
          </p:cNvSpPr>
          <p:nvPr>
            <p:ph type="body" idx="1"/>
          </p:nvPr>
        </p:nvSpPr>
        <p:spPr>
          <a:xfrm>
            <a:off x="905932" y="1152144"/>
            <a:ext cx="11203771" cy="4681727"/>
          </a:xfrm>
        </p:spPr>
        <p:txBody>
          <a:bodyPr>
            <a:normAutofit/>
          </a:bodyPr>
          <a:lstStyle/>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Daily vaccinations – The vaccinations administered on any particular day</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Total vaccinations per 100 – The total vaccinations administered per 100 people which also aggregated data</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People vaccinated per 100 – The number of people who received at least one dose of vaccine, taking into account for every 100 people</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People fully vaccinated per 100 – For every 100 people how many are fully vaccinated (received min 2 doses)</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Daily vaccinations per million – gives the number of vaccinations administered for every million population on any particular day.</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Vaccines – gives the different vaccines and their manufacturers separated by commas.</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Source name – gives the name of the source from which data is provided.</a:t>
            </a:r>
          </a:p>
          <a:p>
            <a:pPr marL="285750" indent="-285750" algn="l">
              <a:buFont typeface="Wingdings" panose="05000000000000000000" pitchFamily="2" charset="2"/>
              <a:buChar char="q"/>
            </a:pPr>
            <a:r>
              <a:rPr lang="en-US" sz="1600" b="0" i="0" dirty="0">
                <a:solidFill>
                  <a:schemeClr val="tx1"/>
                </a:solidFill>
                <a:effectLst/>
                <a:latin typeface="Poppins" panose="00000500000000000000" pitchFamily="2" charset="0"/>
              </a:rPr>
              <a:t>Source website – gives the website link from where the data was obtained.</a:t>
            </a:r>
          </a:p>
          <a:p>
            <a:pPr algn="l"/>
            <a:endParaRPr lang="en-IN" sz="1600" dirty="0"/>
          </a:p>
        </p:txBody>
      </p:sp>
      <p:sp>
        <p:nvSpPr>
          <p:cNvPr id="4" name="Slide Number Placeholder 3">
            <a:extLst>
              <a:ext uri="{FF2B5EF4-FFF2-40B4-BE49-F238E27FC236}">
                <a16:creationId xmlns:a16="http://schemas.microsoft.com/office/drawing/2014/main" id="{AE253AF6-EFC6-08AE-19EC-2ECC7BBB76D3}"/>
              </a:ext>
            </a:extLst>
          </p:cNvPr>
          <p:cNvSpPr>
            <a:spLocks noGrp="1"/>
          </p:cNvSpPr>
          <p:nvPr>
            <p:ph type="sldNum" sz="quarter" idx="12"/>
          </p:nvPr>
        </p:nvSpPr>
        <p:spPr>
          <a:xfrm>
            <a:off x="5672383" y="5199888"/>
            <a:ext cx="643748" cy="365125"/>
          </a:xfrm>
        </p:spPr>
        <p:txBody>
          <a:bodyPr/>
          <a:lstStyle/>
          <a:p>
            <a:fld id="{BDAF6ABE-36BE-434E-9DBA-2121A22FA7B0}" type="slidenum">
              <a:rPr lang="en-IN" smtClean="0"/>
              <a:t>9</a:t>
            </a:fld>
            <a:endParaRPr lang="en-IN"/>
          </a:p>
        </p:txBody>
      </p:sp>
    </p:spTree>
    <p:extLst>
      <p:ext uri="{BB962C8B-B14F-4D97-AF65-F5344CB8AC3E}">
        <p14:creationId xmlns:p14="http://schemas.microsoft.com/office/powerpoint/2010/main" val="1643580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1A47-6289-E189-9AB2-97426E673FFB}"/>
              </a:ext>
            </a:extLst>
          </p:cNvPr>
          <p:cNvSpPr>
            <a:spLocks noGrp="1"/>
          </p:cNvSpPr>
          <p:nvPr>
            <p:ph type="title"/>
          </p:nvPr>
        </p:nvSpPr>
        <p:spPr>
          <a:xfrm>
            <a:off x="685800" y="753533"/>
            <a:ext cx="10820399" cy="645499"/>
          </a:xfrm>
        </p:spPr>
        <p:txBody>
          <a:bodyPr/>
          <a:lstStyle/>
          <a:p>
            <a:pPr algn="l"/>
            <a:r>
              <a:rPr lang="en-IN" dirty="0"/>
              <a:t>Data Summary</a:t>
            </a:r>
          </a:p>
        </p:txBody>
      </p:sp>
      <p:sp>
        <p:nvSpPr>
          <p:cNvPr id="3" name="Text Placeholder 2">
            <a:extLst>
              <a:ext uri="{FF2B5EF4-FFF2-40B4-BE49-F238E27FC236}">
                <a16:creationId xmlns:a16="http://schemas.microsoft.com/office/drawing/2014/main" id="{F5A5A756-AA5F-88AD-333C-CE1D65F26C49}"/>
              </a:ext>
            </a:extLst>
          </p:cNvPr>
          <p:cNvSpPr>
            <a:spLocks noGrp="1"/>
          </p:cNvSpPr>
          <p:nvPr>
            <p:ph type="body" idx="1"/>
          </p:nvPr>
        </p:nvSpPr>
        <p:spPr>
          <a:xfrm>
            <a:off x="1024467" y="1847088"/>
            <a:ext cx="10490200" cy="2916935"/>
          </a:xfrm>
        </p:spPr>
        <p:txBody>
          <a:bodyPr>
            <a:normAutofit fontScale="92500" lnSpcReduction="10000"/>
          </a:bodyPr>
          <a:lstStyle/>
          <a:p>
            <a:pPr marL="342900" indent="-342900" algn="l">
              <a:buFont typeface="Wingdings" panose="05000000000000000000" pitchFamily="2" charset="2"/>
              <a:buChar char="q"/>
            </a:pPr>
            <a:r>
              <a:rPr lang="en-US" b="0" i="0" dirty="0">
                <a:solidFill>
                  <a:schemeClr val="tx1"/>
                </a:solidFill>
                <a:effectLst/>
                <a:latin typeface="Poppins" panose="00000500000000000000" pitchFamily="2" charset="0"/>
              </a:rPr>
              <a:t>The total Highest Daily vaccination is 1.75 billion in India.</a:t>
            </a:r>
          </a:p>
          <a:p>
            <a:pPr algn="l"/>
            <a:endParaRPr lang="en-US" b="0" i="0" dirty="0">
              <a:solidFill>
                <a:schemeClr val="tx1"/>
              </a:solidFill>
              <a:effectLst/>
              <a:latin typeface="Poppins" panose="00000500000000000000" pitchFamily="2" charset="0"/>
            </a:endParaRPr>
          </a:p>
          <a:p>
            <a:pPr marL="342900" indent="-342900" algn="l">
              <a:buFont typeface="Wingdings" panose="05000000000000000000" pitchFamily="2" charset="2"/>
              <a:buChar char="q"/>
            </a:pPr>
            <a:r>
              <a:rPr lang="en-US" b="0" i="0" dirty="0">
                <a:solidFill>
                  <a:schemeClr val="tx1"/>
                </a:solidFill>
                <a:effectLst/>
                <a:latin typeface="Poppins" panose="00000500000000000000" pitchFamily="2" charset="0"/>
              </a:rPr>
              <a:t>The highest number of vaccinations by the source name is the Govt of Thailand is 96 billion</a:t>
            </a:r>
          </a:p>
          <a:p>
            <a:pPr algn="l"/>
            <a:endParaRPr lang="en-US" b="0" i="0" dirty="0">
              <a:solidFill>
                <a:schemeClr val="tx1"/>
              </a:solidFill>
              <a:effectLst/>
              <a:latin typeface="Poppins" panose="00000500000000000000" pitchFamily="2" charset="0"/>
            </a:endParaRPr>
          </a:p>
          <a:p>
            <a:pPr marL="342900" indent="-342900" algn="l">
              <a:buFont typeface="Wingdings" panose="05000000000000000000" pitchFamily="2" charset="2"/>
              <a:buChar char="q"/>
            </a:pPr>
            <a:r>
              <a:rPr lang="en-US" b="0" i="0" dirty="0">
                <a:solidFill>
                  <a:schemeClr val="tx1"/>
                </a:solidFill>
                <a:effectLst/>
                <a:latin typeface="Poppins" panose="00000500000000000000" pitchFamily="2" charset="0"/>
              </a:rPr>
              <a:t>The sum Of Total Vaccinations is 1227826287351</a:t>
            </a:r>
          </a:p>
          <a:p>
            <a:pPr algn="l"/>
            <a:endParaRPr lang="en-US" b="0" i="0" dirty="0">
              <a:solidFill>
                <a:schemeClr val="tx1"/>
              </a:solidFill>
              <a:effectLst/>
              <a:latin typeface="Poppins" panose="00000500000000000000" pitchFamily="2" charset="0"/>
            </a:endParaRPr>
          </a:p>
          <a:p>
            <a:pPr marL="342900" indent="-342900" algn="l">
              <a:buFont typeface="Wingdings" panose="05000000000000000000" pitchFamily="2" charset="2"/>
              <a:buChar char="q"/>
            </a:pPr>
            <a:r>
              <a:rPr lang="en-US" b="0" i="0" dirty="0">
                <a:solidFill>
                  <a:schemeClr val="tx1"/>
                </a:solidFill>
                <a:effectLst/>
                <a:latin typeface="Poppins" panose="00000500000000000000" pitchFamily="2" charset="0"/>
              </a:rPr>
              <a:t>The sum Of People Fully Vaccinated is 487257897890</a:t>
            </a:r>
          </a:p>
          <a:p>
            <a:pPr marL="342900" indent="-342900">
              <a:buFont typeface="Wingdings" panose="05000000000000000000" pitchFamily="2" charset="2"/>
              <a:buChar char="q"/>
            </a:pPr>
            <a:endParaRPr lang="en-IN" dirty="0"/>
          </a:p>
        </p:txBody>
      </p:sp>
      <p:sp>
        <p:nvSpPr>
          <p:cNvPr id="4" name="Slide Number Placeholder 3">
            <a:extLst>
              <a:ext uri="{FF2B5EF4-FFF2-40B4-BE49-F238E27FC236}">
                <a16:creationId xmlns:a16="http://schemas.microsoft.com/office/drawing/2014/main" id="{D59891F4-F997-9DE2-2A65-E1B8FE840495}"/>
              </a:ext>
            </a:extLst>
          </p:cNvPr>
          <p:cNvSpPr>
            <a:spLocks noGrp="1"/>
          </p:cNvSpPr>
          <p:nvPr>
            <p:ph type="sldNum" sz="quarter" idx="12"/>
          </p:nvPr>
        </p:nvSpPr>
        <p:spPr>
          <a:xfrm>
            <a:off x="5625819" y="5206660"/>
            <a:ext cx="643748" cy="365125"/>
          </a:xfrm>
        </p:spPr>
        <p:txBody>
          <a:bodyPr/>
          <a:lstStyle/>
          <a:p>
            <a:fld id="{BDAF6ABE-36BE-434E-9DBA-2121A22FA7B0}" type="slidenum">
              <a:rPr lang="en-IN" smtClean="0"/>
              <a:t>10</a:t>
            </a:fld>
            <a:endParaRPr lang="en-IN" dirty="0"/>
          </a:p>
        </p:txBody>
      </p:sp>
    </p:spTree>
    <p:extLst>
      <p:ext uri="{BB962C8B-B14F-4D97-AF65-F5344CB8AC3E}">
        <p14:creationId xmlns:p14="http://schemas.microsoft.com/office/powerpoint/2010/main" val="2849221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A714B9-1C55-E356-15AC-59E09D62BBFD}"/>
              </a:ext>
            </a:extLst>
          </p:cNvPr>
          <p:cNvSpPr>
            <a:spLocks noGrp="1"/>
          </p:cNvSpPr>
          <p:nvPr>
            <p:ph type="title"/>
          </p:nvPr>
        </p:nvSpPr>
        <p:spPr>
          <a:xfrm>
            <a:off x="1707225" y="481545"/>
            <a:ext cx="9354312" cy="863259"/>
          </a:xfrm>
        </p:spPr>
        <p:txBody>
          <a:bodyPr/>
          <a:lstStyle/>
          <a:p>
            <a:r>
              <a:rPr lang="en-IN" sz="4000" dirty="0"/>
              <a:t>T</a:t>
            </a:r>
            <a:r>
              <a:rPr lang="en-US" dirty="0" err="1"/>
              <a:t>o</a:t>
            </a:r>
            <a:r>
              <a:rPr lang="en-US" sz="4000" dirty="0" err="1"/>
              <a:t>tal</a:t>
            </a:r>
            <a:r>
              <a:rPr lang="en-US" sz="4000" dirty="0"/>
              <a:t> People Vaccinated by Date</a:t>
            </a:r>
            <a:endParaRPr lang="en-IN" dirty="0"/>
          </a:p>
        </p:txBody>
      </p:sp>
      <p:pic>
        <p:nvPicPr>
          <p:cNvPr id="7" name="Content Placeholder 6">
            <a:extLst>
              <a:ext uri="{FF2B5EF4-FFF2-40B4-BE49-F238E27FC236}">
                <a16:creationId xmlns:a16="http://schemas.microsoft.com/office/drawing/2014/main" id="{1510ADE4-1F37-680B-A5C1-098F5242AF1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379" t="4560" r="7628" b="11596"/>
          <a:stretch/>
        </p:blipFill>
        <p:spPr>
          <a:xfrm>
            <a:off x="1292698" y="1271652"/>
            <a:ext cx="10514907" cy="4767072"/>
          </a:xfrm>
        </p:spPr>
      </p:pic>
      <p:sp>
        <p:nvSpPr>
          <p:cNvPr id="8" name="Slide Number Placeholder 7">
            <a:extLst>
              <a:ext uri="{FF2B5EF4-FFF2-40B4-BE49-F238E27FC236}">
                <a16:creationId xmlns:a16="http://schemas.microsoft.com/office/drawing/2014/main" id="{7D7D7EF5-6091-2DA6-A77F-3F8A3A0468E9}"/>
              </a:ext>
            </a:extLst>
          </p:cNvPr>
          <p:cNvSpPr>
            <a:spLocks noGrp="1"/>
          </p:cNvSpPr>
          <p:nvPr>
            <p:ph type="sldNum" sz="quarter" idx="12"/>
          </p:nvPr>
        </p:nvSpPr>
        <p:spPr>
          <a:xfrm>
            <a:off x="6096000" y="6193892"/>
            <a:ext cx="423672" cy="365125"/>
          </a:xfrm>
        </p:spPr>
        <p:txBody>
          <a:bodyPr/>
          <a:lstStyle/>
          <a:p>
            <a:fld id="{BDAF6ABE-36BE-434E-9DBA-2121A22FA7B0}" type="slidenum">
              <a:rPr lang="en-IN" smtClean="0"/>
              <a:t>11</a:t>
            </a:fld>
            <a:endParaRPr lang="en-IN" dirty="0"/>
          </a:p>
        </p:txBody>
      </p:sp>
    </p:spTree>
    <p:extLst>
      <p:ext uri="{BB962C8B-B14F-4D97-AF65-F5344CB8AC3E}">
        <p14:creationId xmlns:p14="http://schemas.microsoft.com/office/powerpoint/2010/main" val="4110107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3126A7-67C6-1BCB-6076-757905BAFE2F}"/>
              </a:ext>
            </a:extLst>
          </p:cNvPr>
          <p:cNvSpPr>
            <a:spLocks noGrp="1"/>
          </p:cNvSpPr>
          <p:nvPr>
            <p:ph type="title"/>
          </p:nvPr>
        </p:nvSpPr>
        <p:spPr>
          <a:xfrm>
            <a:off x="685800" y="753533"/>
            <a:ext cx="10820399" cy="599779"/>
          </a:xfrm>
        </p:spPr>
        <p:txBody>
          <a:bodyPr>
            <a:normAutofit fontScale="90000"/>
          </a:bodyPr>
          <a:lstStyle/>
          <a:p>
            <a:pPr algn="l"/>
            <a:r>
              <a:rPr lang="en-US" sz="4000" b="1" dirty="0">
                <a:effectLst/>
                <a:latin typeface="Calibri" panose="020F0502020204030204" pitchFamily="34" charset="0"/>
                <a:ea typeface="Calibri" panose="020F0502020204030204" pitchFamily="34" charset="0"/>
                <a:cs typeface="Times New Roman" panose="02020603050405020304" pitchFamily="18" charset="0"/>
              </a:rPr>
              <a:t>Insights</a:t>
            </a:r>
            <a:endParaRPr lang="en-IN" dirty="0"/>
          </a:p>
        </p:txBody>
      </p:sp>
      <p:sp>
        <p:nvSpPr>
          <p:cNvPr id="5" name="Text Placeholder 4">
            <a:extLst>
              <a:ext uri="{FF2B5EF4-FFF2-40B4-BE49-F238E27FC236}">
                <a16:creationId xmlns:a16="http://schemas.microsoft.com/office/drawing/2014/main" id="{3725E80C-DA73-5390-BCD1-B22B3E5510C0}"/>
              </a:ext>
            </a:extLst>
          </p:cNvPr>
          <p:cNvSpPr>
            <a:spLocks noGrp="1"/>
          </p:cNvSpPr>
          <p:nvPr>
            <p:ph type="body" idx="1"/>
          </p:nvPr>
        </p:nvSpPr>
        <p:spPr>
          <a:xfrm>
            <a:off x="568452" y="1636776"/>
            <a:ext cx="11055096" cy="1527048"/>
          </a:xfrm>
        </p:spPr>
        <p:txBody>
          <a:bodyPr>
            <a:normAutofit/>
          </a:bodyPr>
          <a:lstStyle/>
          <a:p>
            <a:pPr marL="285750" indent="-285750" algn="l">
              <a:lnSpc>
                <a:spcPts val="1284"/>
              </a:lnSpc>
              <a:buFont typeface="Wingdings" panose="05000000000000000000" pitchFamily="2" charset="2"/>
              <a:buChar char="q"/>
            </a:pPr>
            <a:r>
              <a:rPr lang="en-US" sz="1600" b="0" i="0" dirty="0">
                <a:solidFill>
                  <a:schemeClr val="tx1"/>
                </a:solidFill>
                <a:effectLst/>
                <a:latin typeface="Arial" panose="020B0604020202020204" pitchFamily="34" charset="0"/>
                <a:cs typeface="Arial" panose="020B0604020202020204" pitchFamily="34" charset="0"/>
              </a:rPr>
              <a:t>More than half of the world has been successfully vaccinated against corona virus which brings a big relief.</a:t>
            </a:r>
          </a:p>
          <a:p>
            <a:pPr marL="285750" indent="-285750" algn="l">
              <a:buFont typeface="Wingdings" panose="05000000000000000000" pitchFamily="2" charset="2"/>
              <a:buChar char="q"/>
            </a:pPr>
            <a:r>
              <a:rPr lang="en-US" sz="1600" b="0" i="0" dirty="0">
                <a:solidFill>
                  <a:schemeClr val="tx1"/>
                </a:solidFill>
                <a:effectLst/>
                <a:latin typeface="Arial" panose="020B0604020202020204" pitchFamily="34" charset="0"/>
                <a:cs typeface="Arial" panose="020B0604020202020204" pitchFamily="34" charset="0"/>
              </a:rPr>
              <a:t>The most used vaccines around the world are Johnson and Johnson, Moderna, Oxford and Pfizer.</a:t>
            </a:r>
          </a:p>
          <a:p>
            <a:pPr marL="285750" indent="-285750" algn="l">
              <a:buFont typeface="Wingdings" panose="05000000000000000000" pitchFamily="2" charset="2"/>
              <a:buChar char="q"/>
            </a:pPr>
            <a:r>
              <a:rPr lang="en-US" sz="1600" b="0" i="0" dirty="0">
                <a:solidFill>
                  <a:schemeClr val="tx1"/>
                </a:solidFill>
                <a:effectLst/>
                <a:latin typeface="Arial" panose="020B0604020202020204" pitchFamily="34" charset="0"/>
                <a:cs typeface="Arial" panose="020B0604020202020204" pitchFamily="34" charset="0"/>
              </a:rPr>
              <a:t>India and USA are leading in vaccinating their vast population followed by the Brazil.</a:t>
            </a:r>
          </a:p>
          <a:p>
            <a:pPr marL="285750" indent="-285750" algn="l">
              <a:buFont typeface="Wingdings" panose="05000000000000000000" pitchFamily="2" charset="2"/>
              <a:buChar char="q"/>
            </a:pPr>
            <a:r>
              <a:rPr lang="en-US" sz="1600" b="0" i="0" dirty="0">
                <a:solidFill>
                  <a:schemeClr val="tx1"/>
                </a:solidFill>
                <a:effectLst/>
                <a:latin typeface="Arial" panose="020B0604020202020204" pitchFamily="34" charset="0"/>
                <a:cs typeface="Arial" panose="020B0604020202020204" pitchFamily="34" charset="0"/>
              </a:rPr>
              <a:t>Economically weak countries are too far behind in the vaccination trend.</a:t>
            </a:r>
          </a:p>
          <a:p>
            <a:endParaRPr lang="en-IN" dirty="0"/>
          </a:p>
        </p:txBody>
      </p:sp>
      <p:sp>
        <p:nvSpPr>
          <p:cNvPr id="7" name="Slide Number Placeholder 6">
            <a:extLst>
              <a:ext uri="{FF2B5EF4-FFF2-40B4-BE49-F238E27FC236}">
                <a16:creationId xmlns:a16="http://schemas.microsoft.com/office/drawing/2014/main" id="{EC73A96F-B9D2-9C90-1A8B-594DDAA051C8}"/>
              </a:ext>
            </a:extLst>
          </p:cNvPr>
          <p:cNvSpPr>
            <a:spLocks noGrp="1"/>
          </p:cNvSpPr>
          <p:nvPr>
            <p:ph type="sldNum" sz="quarter" idx="12"/>
          </p:nvPr>
        </p:nvSpPr>
        <p:spPr>
          <a:xfrm>
            <a:off x="5452251" y="5221224"/>
            <a:ext cx="643748" cy="365125"/>
          </a:xfrm>
        </p:spPr>
        <p:txBody>
          <a:bodyPr/>
          <a:lstStyle/>
          <a:p>
            <a:fld id="{BDAF6ABE-36BE-434E-9DBA-2121A22FA7B0}" type="slidenum">
              <a:rPr lang="en-IN" smtClean="0"/>
              <a:t>12</a:t>
            </a:fld>
            <a:endParaRPr lang="en-IN"/>
          </a:p>
        </p:txBody>
      </p:sp>
    </p:spTree>
    <p:extLst>
      <p:ext uri="{BB962C8B-B14F-4D97-AF65-F5344CB8AC3E}">
        <p14:creationId xmlns:p14="http://schemas.microsoft.com/office/powerpoint/2010/main" val="1759418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B2BB-BB44-0AA9-B786-2E167D94693B}"/>
              </a:ext>
            </a:extLst>
          </p:cNvPr>
          <p:cNvSpPr>
            <a:spLocks noGrp="1"/>
          </p:cNvSpPr>
          <p:nvPr>
            <p:ph type="title"/>
          </p:nvPr>
        </p:nvSpPr>
        <p:spPr>
          <a:xfrm>
            <a:off x="685800" y="753533"/>
            <a:ext cx="10820399" cy="608923"/>
          </a:xfrm>
        </p:spPr>
        <p:txBody>
          <a:bodyPr>
            <a:normAutofit fontScale="90000"/>
          </a:bodyPr>
          <a:lstStyle/>
          <a:p>
            <a:pPr algn="l"/>
            <a:r>
              <a:rPr lang="en-US" sz="4000" b="1" dirty="0">
                <a:effectLst/>
                <a:latin typeface="Calibri" panose="020F0502020204030204" pitchFamily="34" charset="0"/>
                <a:ea typeface="Calibri" panose="020F0502020204030204" pitchFamily="34" charset="0"/>
                <a:cs typeface="Times New Roman" panose="02020603050405020304" pitchFamily="18" charset="0"/>
              </a:rPr>
              <a:t>Recommendations</a:t>
            </a:r>
            <a:endParaRPr lang="en-IN" dirty="0"/>
          </a:p>
        </p:txBody>
      </p:sp>
      <p:sp>
        <p:nvSpPr>
          <p:cNvPr id="3" name="Text Placeholder 2">
            <a:extLst>
              <a:ext uri="{FF2B5EF4-FFF2-40B4-BE49-F238E27FC236}">
                <a16:creationId xmlns:a16="http://schemas.microsoft.com/office/drawing/2014/main" id="{407A25B2-C01B-19C9-CDFC-62BBCF2E825A}"/>
              </a:ext>
            </a:extLst>
          </p:cNvPr>
          <p:cNvSpPr>
            <a:spLocks noGrp="1"/>
          </p:cNvSpPr>
          <p:nvPr>
            <p:ph type="body" idx="1"/>
          </p:nvPr>
        </p:nvSpPr>
        <p:spPr>
          <a:xfrm>
            <a:off x="685800" y="1783081"/>
            <a:ext cx="10981605" cy="2194559"/>
          </a:xfrm>
        </p:spPr>
        <p:txBody>
          <a:bodyPr/>
          <a:lstStyle/>
          <a:p>
            <a:pPr marL="342900" marR="0" lvl="0" indent="-342900" algn="just">
              <a:lnSpc>
                <a:spcPct val="107000"/>
              </a:lnSpc>
              <a:spcBef>
                <a:spcPts val="0"/>
              </a:spcBef>
              <a:spcAft>
                <a:spcPts val="0"/>
              </a:spcAft>
              <a:buFont typeface="Wingdings" panose="05000000000000000000" pitchFamily="2" charset="2"/>
              <a:buChar char="q"/>
            </a:pPr>
            <a:r>
              <a:rPr lang="en-US" sz="2000" dirty="0">
                <a:effectLst/>
                <a:latin typeface="Calibri" panose="020F0502020204030204" pitchFamily="34" charset="0"/>
                <a:ea typeface="Calibri" panose="020F0502020204030204" pitchFamily="34" charset="0"/>
                <a:cs typeface="Times New Roman" panose="02020603050405020304" pitchFamily="18" charset="0"/>
              </a:rPr>
              <a:t>Like this dataset, we can perform operations with various categories, city-wise or region-wise.</a:t>
            </a:r>
          </a:p>
          <a:p>
            <a:pPr marL="342900" marR="0" lvl="0" indent="-342900" algn="just">
              <a:lnSpc>
                <a:spcPct val="107000"/>
              </a:lnSpc>
              <a:spcBef>
                <a:spcPts val="0"/>
              </a:spcBef>
              <a:spcAft>
                <a:spcPts val="0"/>
              </a:spcAft>
              <a:buFont typeface="Wingdings" panose="05000000000000000000" pitchFamily="2" charset="2"/>
              <a:buChar char="q"/>
            </a:pPr>
            <a:r>
              <a:rPr lang="en-US" sz="2000" dirty="0">
                <a:effectLst/>
                <a:latin typeface="Calibri" panose="020F0502020204030204" pitchFamily="34" charset="0"/>
                <a:ea typeface="Calibri" panose="020F0502020204030204" pitchFamily="34" charset="0"/>
                <a:cs typeface="Times New Roman" panose="02020603050405020304" pitchFamily="18" charset="0"/>
              </a:rPr>
              <a:t>We can work on large datasets and analyze them with the proper format of the chart.</a:t>
            </a:r>
          </a:p>
          <a:p>
            <a:pPr marL="342900" marR="0" lvl="0" indent="-342900" algn="just">
              <a:lnSpc>
                <a:spcPct val="107000"/>
              </a:lnSpc>
              <a:spcBef>
                <a:spcPts val="0"/>
              </a:spcBef>
              <a:spcAft>
                <a:spcPts val="0"/>
              </a:spcAft>
              <a:buFont typeface="Wingdings" panose="05000000000000000000" pitchFamily="2" charset="2"/>
              <a:buChar char="q"/>
            </a:pPr>
            <a:r>
              <a:rPr lang="en-US" sz="2000" dirty="0">
                <a:effectLst/>
                <a:latin typeface="Calibri" panose="020F0502020204030204" pitchFamily="34" charset="0"/>
                <a:ea typeface="Calibri" panose="020F0502020204030204" pitchFamily="34" charset="0"/>
                <a:cs typeface="Times New Roman" panose="02020603050405020304" pitchFamily="18" charset="0"/>
              </a:rPr>
              <a:t>The developed and economically strong countries should help out the underdeveloped and developing countries to improve the vaccination of the people.</a:t>
            </a:r>
          </a:p>
          <a:p>
            <a:pPr marL="342900" marR="0" lvl="0" indent="-342900" algn="just">
              <a:lnSpc>
                <a:spcPct val="107000"/>
              </a:lnSpc>
              <a:spcBef>
                <a:spcPts val="0"/>
              </a:spcBef>
              <a:spcAft>
                <a:spcPts val="800"/>
              </a:spcAft>
              <a:buFont typeface="Wingdings" panose="05000000000000000000" pitchFamily="2" charset="2"/>
              <a:buChar char="q"/>
            </a:pPr>
            <a:r>
              <a:rPr lang="en-US" sz="2000" dirty="0">
                <a:effectLst/>
                <a:latin typeface="Calibri" panose="020F0502020204030204" pitchFamily="34" charset="0"/>
                <a:ea typeface="Calibri" panose="020F0502020204030204" pitchFamily="34" charset="0"/>
                <a:cs typeface="Times New Roman" panose="02020603050405020304" pitchFamily="18" charset="0"/>
              </a:rPr>
              <a:t>At least 90% of the population should be vaccinated at least once to avoid further problems.</a:t>
            </a:r>
          </a:p>
          <a:p>
            <a:pPr algn="l"/>
            <a:endParaRPr lang="en-IN" dirty="0"/>
          </a:p>
        </p:txBody>
      </p:sp>
      <p:sp>
        <p:nvSpPr>
          <p:cNvPr id="4" name="Slide Number Placeholder 3">
            <a:extLst>
              <a:ext uri="{FF2B5EF4-FFF2-40B4-BE49-F238E27FC236}">
                <a16:creationId xmlns:a16="http://schemas.microsoft.com/office/drawing/2014/main" id="{C1B4B09B-96CB-A5EB-0FA1-EECCF471D022}"/>
              </a:ext>
            </a:extLst>
          </p:cNvPr>
          <p:cNvSpPr>
            <a:spLocks noGrp="1"/>
          </p:cNvSpPr>
          <p:nvPr>
            <p:ph type="sldNum" sz="quarter" idx="12"/>
          </p:nvPr>
        </p:nvSpPr>
        <p:spPr>
          <a:xfrm>
            <a:off x="5452251" y="5318760"/>
            <a:ext cx="643748" cy="365125"/>
          </a:xfrm>
        </p:spPr>
        <p:txBody>
          <a:bodyPr/>
          <a:lstStyle/>
          <a:p>
            <a:fld id="{BDAF6ABE-36BE-434E-9DBA-2121A22FA7B0}" type="slidenum">
              <a:rPr lang="en-IN" smtClean="0"/>
              <a:t>13</a:t>
            </a:fld>
            <a:endParaRPr lang="en-IN" dirty="0"/>
          </a:p>
        </p:txBody>
      </p:sp>
    </p:spTree>
    <p:extLst>
      <p:ext uri="{BB962C8B-B14F-4D97-AF65-F5344CB8AC3E}">
        <p14:creationId xmlns:p14="http://schemas.microsoft.com/office/powerpoint/2010/main" val="2867247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992BB1-07D7-F6A5-51C5-EEAE664D8876}"/>
              </a:ext>
            </a:extLst>
          </p:cNvPr>
          <p:cNvSpPr>
            <a:spLocks noGrp="1"/>
          </p:cNvSpPr>
          <p:nvPr>
            <p:ph type="title"/>
          </p:nvPr>
        </p:nvSpPr>
        <p:spPr>
          <a:xfrm>
            <a:off x="685800" y="1524000"/>
            <a:ext cx="4114800" cy="615696"/>
          </a:xfrm>
        </p:spPr>
        <p:txBody>
          <a:bodyPr/>
          <a:lstStyle/>
          <a:p>
            <a:r>
              <a:rPr lang="en-IN" dirty="0"/>
              <a:t>Conclusion</a:t>
            </a:r>
          </a:p>
        </p:txBody>
      </p:sp>
      <p:pic>
        <p:nvPicPr>
          <p:cNvPr id="8" name="Content Placeholder 7" descr="Person using a syringe">
            <a:extLst>
              <a:ext uri="{FF2B5EF4-FFF2-40B4-BE49-F238E27FC236}">
                <a16:creationId xmlns:a16="http://schemas.microsoft.com/office/drawing/2014/main" id="{893B351B-DCD3-2D72-B63B-4E62A48223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887072"/>
            <a:ext cx="5980176" cy="4331613"/>
          </a:xfrm>
        </p:spPr>
      </p:pic>
      <p:sp>
        <p:nvSpPr>
          <p:cNvPr id="6" name="Text Placeholder 5">
            <a:extLst>
              <a:ext uri="{FF2B5EF4-FFF2-40B4-BE49-F238E27FC236}">
                <a16:creationId xmlns:a16="http://schemas.microsoft.com/office/drawing/2014/main" id="{E85F979C-143C-51E3-CF2D-C12399F54793}"/>
              </a:ext>
            </a:extLst>
          </p:cNvPr>
          <p:cNvSpPr>
            <a:spLocks noGrp="1"/>
          </p:cNvSpPr>
          <p:nvPr>
            <p:ph type="body" sz="half" idx="2"/>
          </p:nvPr>
        </p:nvSpPr>
        <p:spPr>
          <a:xfrm>
            <a:off x="438912" y="2340865"/>
            <a:ext cx="5422392" cy="3877820"/>
          </a:xfrm>
        </p:spPr>
        <p:txBody>
          <a:bodyPr/>
          <a:lstStyle/>
          <a:p>
            <a:pPr marL="285750" indent="-285750" algn="l">
              <a:buFont typeface="Wingdings" panose="05000000000000000000" pitchFamily="2" charset="2"/>
              <a:buChar char="q"/>
            </a:pPr>
            <a:r>
              <a:rPr lang="en-US" b="0" i="0" dirty="0">
                <a:effectLst/>
                <a:latin typeface="Poppins" panose="00000500000000000000" pitchFamily="2" charset="0"/>
              </a:rPr>
              <a:t>In conclusion, we can take a look at the final report for further analysis.</a:t>
            </a:r>
          </a:p>
          <a:p>
            <a:pPr marL="285750" indent="-285750" algn="l">
              <a:buFont typeface="Wingdings" panose="05000000000000000000" pitchFamily="2" charset="2"/>
              <a:buChar char="q"/>
            </a:pPr>
            <a:r>
              <a:rPr lang="en-US" b="0" i="0" dirty="0">
                <a:effectLst/>
                <a:latin typeface="Poppins" panose="00000500000000000000" pitchFamily="2" charset="0"/>
              </a:rPr>
              <a:t>As we can see in the Report the top countries vaccination-wise, Top Country by the vaccination in daily and the best top 10 countries with our vaccines. Vaccination peeks in 2022. The Top 2 vaccine sources are Government of Thailand, and Ministry of Health.</a:t>
            </a:r>
          </a:p>
          <a:p>
            <a:endParaRPr lang="en-IN" dirty="0"/>
          </a:p>
        </p:txBody>
      </p:sp>
      <p:sp>
        <p:nvSpPr>
          <p:cNvPr id="9" name="Slide Number Placeholder 8">
            <a:extLst>
              <a:ext uri="{FF2B5EF4-FFF2-40B4-BE49-F238E27FC236}">
                <a16:creationId xmlns:a16="http://schemas.microsoft.com/office/drawing/2014/main" id="{D75CCA7E-F61F-3B32-A200-28D9AA04F427}"/>
              </a:ext>
            </a:extLst>
          </p:cNvPr>
          <p:cNvSpPr>
            <a:spLocks noGrp="1"/>
          </p:cNvSpPr>
          <p:nvPr>
            <p:ph type="sldNum" sz="quarter" idx="12"/>
          </p:nvPr>
        </p:nvSpPr>
        <p:spPr>
          <a:xfrm>
            <a:off x="3352800" y="6306312"/>
            <a:ext cx="2743200" cy="365125"/>
          </a:xfrm>
        </p:spPr>
        <p:txBody>
          <a:bodyPr/>
          <a:lstStyle/>
          <a:p>
            <a:fld id="{BDAF6ABE-36BE-434E-9DBA-2121A22FA7B0}" type="slidenum">
              <a:rPr lang="en-IN" smtClean="0"/>
              <a:t>14</a:t>
            </a:fld>
            <a:endParaRPr lang="en-IN"/>
          </a:p>
        </p:txBody>
      </p:sp>
    </p:spTree>
    <p:extLst>
      <p:ext uri="{BB962C8B-B14F-4D97-AF65-F5344CB8AC3E}">
        <p14:creationId xmlns:p14="http://schemas.microsoft.com/office/powerpoint/2010/main" val="2169978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B21F06-3141-ADD4-7254-2B8E20D52312}"/>
              </a:ext>
            </a:extLst>
          </p:cNvPr>
          <p:cNvSpPr>
            <a:spLocks noGrp="1"/>
          </p:cNvSpPr>
          <p:nvPr>
            <p:ph type="ctrTitle"/>
          </p:nvPr>
        </p:nvSpPr>
        <p:spPr>
          <a:xfrm>
            <a:off x="1371600" y="1803405"/>
            <a:ext cx="9448800" cy="903219"/>
          </a:xfrm>
        </p:spPr>
        <p:txBody>
          <a:bodyPr>
            <a:normAutofit fontScale="90000"/>
          </a:bodyPr>
          <a:lstStyle/>
          <a:p>
            <a:pPr algn="ctr"/>
            <a:r>
              <a:rPr lang="en-US" dirty="0"/>
              <a:t>Thank You !</a:t>
            </a:r>
            <a:endParaRPr lang="en-IN" dirty="0"/>
          </a:p>
        </p:txBody>
      </p:sp>
      <p:sp>
        <p:nvSpPr>
          <p:cNvPr id="6" name="Subtitle 5">
            <a:extLst>
              <a:ext uri="{FF2B5EF4-FFF2-40B4-BE49-F238E27FC236}">
                <a16:creationId xmlns:a16="http://schemas.microsoft.com/office/drawing/2014/main" id="{0FA2F77D-AF76-D336-18EB-2E02FFC438C4}"/>
              </a:ext>
            </a:extLst>
          </p:cNvPr>
          <p:cNvSpPr>
            <a:spLocks noGrp="1"/>
          </p:cNvSpPr>
          <p:nvPr>
            <p:ph type="subTitle" idx="1"/>
          </p:nvPr>
        </p:nvSpPr>
        <p:spPr>
          <a:xfrm>
            <a:off x="1371600" y="2569464"/>
            <a:ext cx="9448800" cy="1748537"/>
          </a:xfrm>
        </p:spPr>
        <p:txBody>
          <a:bodyPr/>
          <a:lstStyle/>
          <a:p>
            <a:pPr algn="ctr"/>
            <a:r>
              <a:rPr lang="en-IN" dirty="0">
                <a:solidFill>
                  <a:schemeClr val="bg1">
                    <a:lumMod val="65000"/>
                    <a:lumOff val="35000"/>
                  </a:schemeClr>
                </a:solidFill>
              </a:rPr>
              <a:t>Chris Fernandes</a:t>
            </a:r>
          </a:p>
          <a:p>
            <a:pPr algn="ctr"/>
            <a:r>
              <a:rPr lang="en-IN" u="sng" dirty="0">
                <a:solidFill>
                  <a:schemeClr val="tx1">
                    <a:lumMod val="85000"/>
                  </a:schemeClr>
                </a:solidFill>
              </a:rPr>
              <a:t>chrisfernandes02@gmail.com</a:t>
            </a:r>
          </a:p>
        </p:txBody>
      </p:sp>
      <p:sp>
        <p:nvSpPr>
          <p:cNvPr id="7" name="Slide Number Placeholder 6">
            <a:extLst>
              <a:ext uri="{FF2B5EF4-FFF2-40B4-BE49-F238E27FC236}">
                <a16:creationId xmlns:a16="http://schemas.microsoft.com/office/drawing/2014/main" id="{0BF6A21B-B230-F35D-0720-7DF585246E4B}"/>
              </a:ext>
            </a:extLst>
          </p:cNvPr>
          <p:cNvSpPr>
            <a:spLocks noGrp="1"/>
          </p:cNvSpPr>
          <p:nvPr>
            <p:ph type="sldNum" sz="quarter" idx="12"/>
          </p:nvPr>
        </p:nvSpPr>
        <p:spPr>
          <a:xfrm>
            <a:off x="3352800" y="5381074"/>
            <a:ext cx="2743200" cy="365125"/>
          </a:xfrm>
        </p:spPr>
        <p:txBody>
          <a:bodyPr/>
          <a:lstStyle/>
          <a:p>
            <a:fld id="{BDAF6ABE-36BE-434E-9DBA-2121A22FA7B0}" type="slidenum">
              <a:rPr lang="en-IN" smtClean="0"/>
              <a:t>15</a:t>
            </a:fld>
            <a:endParaRPr lang="en-IN"/>
          </a:p>
        </p:txBody>
      </p:sp>
    </p:spTree>
    <p:extLst>
      <p:ext uri="{BB962C8B-B14F-4D97-AF65-F5344CB8AC3E}">
        <p14:creationId xmlns:p14="http://schemas.microsoft.com/office/powerpoint/2010/main" val="1735024335"/>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93</TotalTime>
  <Words>830</Words>
  <Application>Microsoft Office PowerPoint</Application>
  <PresentationFormat>Widescreen</PresentationFormat>
  <Paragraphs>95</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Algerian</vt:lpstr>
      <vt:lpstr>Arial</vt:lpstr>
      <vt:lpstr>Calibri</vt:lpstr>
      <vt:lpstr>Century Gothic</vt:lpstr>
      <vt:lpstr>Poppins</vt:lpstr>
      <vt:lpstr>Sagona Book</vt:lpstr>
      <vt:lpstr>Symbol</vt:lpstr>
      <vt:lpstr>Wingdings</vt:lpstr>
      <vt:lpstr>Vapor Trail</vt:lpstr>
      <vt:lpstr>COVID-19 Vaccinations Trend Analysis</vt:lpstr>
      <vt:lpstr>agenda</vt:lpstr>
      <vt:lpstr>Introduction</vt:lpstr>
      <vt:lpstr>Problem Statement</vt:lpstr>
      <vt:lpstr>Methodology</vt:lpstr>
      <vt:lpstr>Report view</vt:lpstr>
      <vt:lpstr>Report view</vt:lpstr>
      <vt:lpstr>Data Analysis</vt:lpstr>
      <vt:lpstr>Data Analysis</vt:lpstr>
      <vt:lpstr>Data Summary</vt:lpstr>
      <vt:lpstr>Total People Vaccinated by Date</vt:lpstr>
      <vt:lpstr>Insights</vt:lpstr>
      <vt:lpstr>Recommendations</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fernandes</dc:creator>
  <cp:lastModifiedBy>Chris fernandes</cp:lastModifiedBy>
  <cp:revision>1</cp:revision>
  <dcterms:created xsi:type="dcterms:W3CDTF">2024-11-07T18:37:42Z</dcterms:created>
  <dcterms:modified xsi:type="dcterms:W3CDTF">2024-11-07T20:11:08Z</dcterms:modified>
</cp:coreProperties>
</file>